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438247" y="1325880"/>
            <a:ext cx="7315200" cy="3657600"/>
          </a:xfrm>
          <a:prstGeom prst="roundRect">
            <a:avLst>
              <a:gd name="adj" fmla="val 5000"/>
            </a:avLst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438247" y="1325880"/>
            <a:ext cx="7315200" cy="54864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438247" y="178308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4FC3F7"/>
                </a:solidFill>
                <a:latin typeface="Helvetica Neue"/>
              </a:defRPr>
            </a:pPr>
            <a:r>
              <a:t>VideoCut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438247" y="278892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E0E0E0"/>
                </a:solidFill>
                <a:latin typeface="Helvetica Neue"/>
              </a:defRPr>
            </a:pPr>
            <a:r>
              <a:t>シンプル動画カットエディタ for macOS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438247" y="352044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99999"/>
                </a:solidFill>
                <a:latin typeface="Helvetica Neue"/>
              </a:defRPr>
            </a:pPr>
            <a:r>
              <a:t>動画をプレビューしながら、必要な部分だけをカット＆結合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438247" y="425196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555555"/>
                </a:solidFill>
                <a:latin typeface="Helvetica Neue"/>
              </a:defRPr>
            </a:pPr>
            <a:r>
              <a:t>Version 1.0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4FC3F7"/>
                </a:solidFill>
                <a:latin typeface="Helvetica Neue"/>
              </a:defRPr>
            </a:pPr>
            <a:r>
              <a:t>VideoCut とは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1828800" cy="36576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E0E0E0"/>
                </a:solidFill>
                <a:latin typeface="Helvetica Neue"/>
              </a:defRPr>
            </a:pPr>
            <a:r>
              <a:t>macOS で動作するシンプルな動画カット編集ツールです。</a:t>
            </a:r>
            <a:br/>
            <a:r>
              <a:t>ブラウザベースのUIで、動画のプレビュー・カット・結合・上下反転をサポートします。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743200"/>
            <a:ext cx="2468880" cy="2377440"/>
          </a:xfrm>
          <a:prstGeom prst="roundRect">
            <a:avLst>
              <a:gd name="adj" fmla="val 4000"/>
            </a:avLst>
          </a:prstGeom>
          <a:solidFill>
            <a:srgbClr val="2525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2743200"/>
            <a:ext cx="2468880" cy="54864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310896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4FC3F7"/>
                </a:solidFill>
                <a:latin typeface="Helvetica Neue"/>
              </a:defRPr>
            </a:pPr>
            <a:r>
              <a:t>プレビュー再生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749040"/>
            <a:ext cx="1920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999999"/>
                </a:solidFill>
                <a:latin typeface="Helvetica Neue"/>
              </a:defRPr>
            </a:pPr>
            <a:r>
              <a:t>動画を再生しながら</a:t>
            </a:r>
            <a:br/>
            <a:r>
              <a:t>カット位置を確認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74720" y="2743200"/>
            <a:ext cx="2468880" cy="2377440"/>
          </a:xfrm>
          <a:prstGeom prst="roundRect">
            <a:avLst>
              <a:gd name="adj" fmla="val 4000"/>
            </a:avLst>
          </a:prstGeom>
          <a:solidFill>
            <a:srgbClr val="2525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474720" y="2743200"/>
            <a:ext cx="2468880" cy="54864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49040" y="310896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4CAF50"/>
                </a:solidFill>
                <a:latin typeface="Helvetica Neue"/>
              </a:defRPr>
            </a:pPr>
            <a:r>
              <a:t>IN / OUT 編集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49040" y="3749040"/>
            <a:ext cx="1920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999999"/>
                </a:solidFill>
                <a:latin typeface="Helvetica Neue"/>
              </a:defRPr>
            </a:pPr>
            <a:r>
              <a:t>残したい区間を</a:t>
            </a:r>
            <a:br/>
            <a:r>
              <a:t>自由にマーク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2743200"/>
            <a:ext cx="2468880" cy="2377440"/>
          </a:xfrm>
          <a:prstGeom prst="roundRect">
            <a:avLst>
              <a:gd name="adj" fmla="val 4000"/>
            </a:avLst>
          </a:prstGeom>
          <a:solidFill>
            <a:srgbClr val="2525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17920" y="2743200"/>
            <a:ext cx="2468880" cy="54864"/>
          </a:xfrm>
          <a:prstGeom prst="rect">
            <a:avLst/>
          </a:prstGeom>
          <a:solidFill>
            <a:srgbClr val="FFB7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2240" y="310896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B74D"/>
                </a:solidFill>
                <a:latin typeface="Helvetica Neue"/>
              </a:defRPr>
            </a:pPr>
            <a:r>
              <a:t>無劣化エクスポート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3749040"/>
            <a:ext cx="1920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999999"/>
                </a:solidFill>
                <a:latin typeface="Helvetica Neue"/>
              </a:defRPr>
            </a:pPr>
            <a:r>
              <a:t>ffmpeg による</a:t>
            </a:r>
            <a:br/>
            <a:r>
              <a:t>高速・無劣化出力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961120" y="2743200"/>
            <a:ext cx="2468880" cy="2377440"/>
          </a:xfrm>
          <a:prstGeom prst="roundRect">
            <a:avLst>
              <a:gd name="adj" fmla="val 4000"/>
            </a:avLst>
          </a:prstGeom>
          <a:solidFill>
            <a:srgbClr val="2525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961120" y="2743200"/>
            <a:ext cx="2468880" cy="54864"/>
          </a:xfrm>
          <a:prstGeom prst="rect">
            <a:avLst/>
          </a:prstGeom>
          <a:solidFill>
            <a:srgbClr val="F443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235440" y="310896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44336"/>
                </a:solidFill>
                <a:latin typeface="Helvetica Neue"/>
              </a:defRPr>
            </a:pPr>
            <a:r>
              <a:t>上下反転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35440" y="3749040"/>
            <a:ext cx="1920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999999"/>
                </a:solidFill>
                <a:latin typeface="Helvetica Neue"/>
              </a:defRPr>
            </a:pPr>
            <a:r>
              <a:t>プレビュー＆出力</a:t>
            </a:r>
            <a:br/>
            <a:r>
              <a:t>両方に反映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4FC3F7"/>
                </a:solidFill>
                <a:latin typeface="Helvetica Neue"/>
              </a:defRPr>
            </a:pPr>
            <a:r>
              <a:t>インストール方法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2560320" cy="36576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1097280" cy="960120"/>
          </a:xfrm>
          <a:prstGeom prst="roundRect">
            <a:avLst>
              <a:gd name="adj" fmla="val 6000"/>
            </a:avLst>
          </a:prstGeom>
          <a:solidFill>
            <a:srgbClr val="2525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002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4FC3F7"/>
                </a:solidFill>
                <a:latin typeface="Helvetica Neue"/>
              </a:defRPr>
            </a:pPr>
            <a:r>
              <a:t>Step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92024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4FC3F7"/>
                </a:solidFill>
                <a:latin typeface="Helvetica Neue"/>
              </a:defRPr>
            </a:pPr>
            <a:r>
              <a:t>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03120" y="15087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0E0E0"/>
                </a:solidFill>
                <a:latin typeface="Helvetica Neue"/>
              </a:defRPr>
            </a:pPr>
            <a:r>
              <a:t>必要環境の確認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03120" y="18745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99999"/>
                </a:solidFill>
                <a:latin typeface="Helvetica Neue"/>
              </a:defRPr>
            </a:pPr>
            <a:r>
              <a:t>macOS 12 以降</a:t>
            </a:r>
            <a:br/>
            <a:r>
              <a:t>ffmpeg がインストール済みであること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697480"/>
            <a:ext cx="1097280" cy="960120"/>
          </a:xfrm>
          <a:prstGeom prst="roundRect">
            <a:avLst>
              <a:gd name="adj" fmla="val 6000"/>
            </a:avLst>
          </a:prstGeom>
          <a:solidFill>
            <a:srgbClr val="2525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83464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4FC3F7"/>
                </a:solidFill>
                <a:latin typeface="Helvetica Neue"/>
              </a:defRPr>
            </a:pPr>
            <a:r>
              <a:t>Step 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15468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4FC3F7"/>
                </a:solidFill>
                <a:latin typeface="Helvetica Neue"/>
              </a:defRPr>
            </a:pPr>
            <a:r>
              <a:t>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03120" y="27432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0E0E0"/>
                </a:solidFill>
                <a:latin typeface="Helvetica Neue"/>
              </a:defRPr>
            </a:pPr>
            <a:r>
              <a:t>ffmpeg のインストール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03120" y="31089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99999"/>
                </a:solidFill>
                <a:latin typeface="Helvetica Neue"/>
              </a:defRPr>
            </a:pPr>
            <a:r>
              <a:t>ターミナルで以下を実行:</a:t>
            </a:r>
            <a:br/>
            <a:r>
              <a:t>  brew install ffmpeg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931920"/>
            <a:ext cx="1097280" cy="960120"/>
          </a:xfrm>
          <a:prstGeom prst="roundRect">
            <a:avLst>
              <a:gd name="adj" fmla="val 6000"/>
            </a:avLst>
          </a:prstGeom>
          <a:solidFill>
            <a:srgbClr val="2525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406908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4FC3F7"/>
                </a:solidFill>
                <a:latin typeface="Helvetica Neue"/>
              </a:defRPr>
            </a:pPr>
            <a:r>
              <a:t>Step 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438912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4FC3F7"/>
                </a:solidFill>
                <a:latin typeface="Helvetica Neue"/>
              </a:defRPr>
            </a:pPr>
            <a:r>
              <a:t>●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03120" y="39776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0E0E0"/>
                </a:solidFill>
                <a:latin typeface="Helvetica Neue"/>
              </a:defRPr>
            </a:pPr>
            <a:r>
              <a:t>アプリの配置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03120" y="434340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99999"/>
                </a:solidFill>
                <a:latin typeface="Helvetica Neue"/>
              </a:defRPr>
            </a:pPr>
            <a:r>
              <a:t>VideoCut.dmg を開き、</a:t>
            </a:r>
            <a:br/>
            <a:r>
              <a:t>VideoCut.app を アプリケーション フォルダにコピー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5166360"/>
            <a:ext cx="1097280" cy="960120"/>
          </a:xfrm>
          <a:prstGeom prst="roundRect">
            <a:avLst>
              <a:gd name="adj" fmla="val 6000"/>
            </a:avLst>
          </a:prstGeom>
          <a:solidFill>
            <a:srgbClr val="2525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530352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4FC3F7"/>
                </a:solidFill>
                <a:latin typeface="Helvetica Neue"/>
              </a:defRPr>
            </a:pPr>
            <a:r>
              <a:t>Step 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56235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4FC3F7"/>
                </a:solidFill>
                <a:latin typeface="Helvetica Neue"/>
              </a:defRPr>
            </a:pPr>
            <a:r>
              <a:t>●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103120" y="52120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0E0E0"/>
                </a:solidFill>
                <a:latin typeface="Helvetica Neue"/>
              </a:defRPr>
            </a:pPr>
            <a:r>
              <a:t>初回起動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03120" y="557784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99999"/>
                </a:solidFill>
                <a:latin typeface="Helvetica Neue"/>
              </a:defRPr>
            </a:pPr>
            <a:r>
              <a:t>右クリック →「開く」を選択</a:t>
            </a:r>
            <a:br/>
            <a:r>
              <a:t>（初回は開発元確認ダイアログが出ます）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4FC3F7"/>
                </a:solidFill>
                <a:latin typeface="Helvetica Neue"/>
              </a:defRPr>
            </a:pPr>
            <a:r>
              <a:t>画面構成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1645920" cy="36576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371600" y="1371600"/>
            <a:ext cx="9144000" cy="5029200"/>
          </a:xfrm>
          <a:prstGeom prst="roundRect">
            <a:avLst>
              <a:gd name="adj" fmla="val 2000"/>
            </a:avLst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371600" y="1371600"/>
            <a:ext cx="9144000" cy="502920"/>
          </a:xfrm>
          <a:prstGeom prst="rect">
            <a:avLst/>
          </a:prstGeom>
          <a:solidFill>
            <a:srgbClr val="2525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554480" y="1444752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FC3F7"/>
                </a:solidFill>
                <a:latin typeface="Helvetica Neue"/>
              </a:defRPr>
            </a:pPr>
            <a:r>
              <a:t>VideoCut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17520" y="146304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99999"/>
                </a:solidFill>
                <a:latin typeface="Helvetica Neue"/>
              </a:defRPr>
            </a:pPr>
            <a:r>
              <a:t>sample.mp4 (1920x1080, 30fps)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0" y="1463040"/>
            <a:ext cx="914400" cy="320040"/>
          </a:xfrm>
          <a:prstGeom prst="roundRect">
            <a:avLst>
              <a:gd name="adj" fmla="val 12000"/>
            </a:avLst>
          </a:prstGeom>
          <a:solidFill>
            <a:srgbClr val="303030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E0E0E0"/>
                </a:solidFill>
              </a:defRPr>
            </a:pPr>
            <a:r>
              <a:t>開く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321040" y="1463040"/>
            <a:ext cx="914400" cy="320040"/>
          </a:xfrm>
          <a:prstGeom prst="roundRect">
            <a:avLst>
              <a:gd name="adj" fmla="val 12000"/>
            </a:avLst>
          </a:prstGeom>
          <a:solidFill>
            <a:srgbClr val="303030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E0E0E0"/>
                </a:solidFill>
              </a:defRPr>
            </a:pPr>
            <a:r>
              <a:t>上下反転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326880" y="1463040"/>
            <a:ext cx="914400" cy="320040"/>
          </a:xfrm>
          <a:prstGeom prst="roundRect">
            <a:avLst>
              <a:gd name="adj" fmla="val 12000"/>
            </a:avLst>
          </a:prstGeom>
          <a:solidFill>
            <a:srgbClr val="303030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4CAF50"/>
                </a:solidFill>
              </a:defRPr>
            </a:pPr>
            <a:r>
              <a:t>エクスポート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371600" y="1874520"/>
            <a:ext cx="9144000" cy="2560320"/>
          </a:xfrm>
          <a:prstGeom prst="rect">
            <a:avLst/>
          </a:prstGeom>
          <a:solidFill>
            <a:srgbClr val="0505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27889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555555"/>
                </a:solidFill>
                <a:latin typeface="Helvetica Neue"/>
              </a:defRPr>
            </a:pPr>
            <a:r>
              <a:t>[ 動画プレビュー ]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371600" y="4434840"/>
            <a:ext cx="9144000" cy="73152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554480" y="44805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4FC3F7"/>
                </a:solidFill>
                <a:latin typeface="Menlo"/>
              </a:defRPr>
            </a:pPr>
            <a:r>
              <a:t>00:01:23.45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0" y="450799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99999"/>
                </a:solidFill>
                <a:latin typeface="Menlo"/>
              </a:defRPr>
            </a:pPr>
            <a:r>
              <a:t>/ 00:05:30.00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554480" y="4754880"/>
            <a:ext cx="8778240" cy="228600"/>
          </a:xfrm>
          <a:prstGeom prst="roundRect">
            <a:avLst>
              <a:gd name="adj" fmla="val 10000"/>
            </a:avLst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743200" y="4754880"/>
            <a:ext cx="1828800" cy="228600"/>
          </a:xfrm>
          <a:prstGeom prst="rect">
            <a:avLst/>
          </a:prstGeom>
          <a:solidFill>
            <a:srgbClr val="2E5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114800" y="4709160"/>
            <a:ext cx="27432" cy="320040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371600" y="5166360"/>
            <a:ext cx="9144000" cy="45720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2743200" y="5239512"/>
            <a:ext cx="411480" cy="292608"/>
          </a:xfrm>
          <a:prstGeom prst="roundRect">
            <a:avLst>
              <a:gd name="adj" fmla="val 12000"/>
            </a:avLst>
          </a:prstGeom>
          <a:solidFill>
            <a:srgbClr val="303030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E0E0E0"/>
                </a:solidFill>
              </a:defRPr>
            </a:pPr>
            <a:r>
              <a:t>⏮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209544" y="5239512"/>
            <a:ext cx="411480" cy="292608"/>
          </a:xfrm>
          <a:prstGeom prst="roundRect">
            <a:avLst>
              <a:gd name="adj" fmla="val 12000"/>
            </a:avLst>
          </a:prstGeom>
          <a:solidFill>
            <a:srgbClr val="303030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E0E0E0"/>
                </a:solidFill>
              </a:defRPr>
            </a:pPr>
            <a:r>
              <a:t>⏪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675888" y="5239512"/>
            <a:ext cx="411480" cy="292608"/>
          </a:xfrm>
          <a:prstGeom prst="roundRect">
            <a:avLst>
              <a:gd name="adj" fmla="val 12000"/>
            </a:avLst>
          </a:prstGeom>
          <a:solidFill>
            <a:srgbClr val="303030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E0E0E0"/>
                </a:solidFill>
              </a:defRPr>
            </a:pPr>
            <a:r>
              <a:t>◀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142232" y="5239512"/>
            <a:ext cx="594360" cy="292608"/>
          </a:xfrm>
          <a:prstGeom prst="roundRect">
            <a:avLst>
              <a:gd name="adj" fmla="val 12000"/>
            </a:avLst>
          </a:prstGeom>
          <a:solidFill>
            <a:srgbClr val="303030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E0E0E0"/>
                </a:solidFill>
              </a:defRPr>
            </a:pPr>
            <a:r>
              <a:t> ▶ 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791456" y="5239512"/>
            <a:ext cx="411480" cy="292608"/>
          </a:xfrm>
          <a:prstGeom prst="roundRect">
            <a:avLst>
              <a:gd name="adj" fmla="val 12000"/>
            </a:avLst>
          </a:prstGeom>
          <a:solidFill>
            <a:srgbClr val="303030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E0E0E0"/>
                </a:solidFill>
              </a:defRPr>
            </a:pPr>
            <a:r>
              <a:t>▶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257800" y="5239512"/>
            <a:ext cx="411480" cy="292608"/>
          </a:xfrm>
          <a:prstGeom prst="roundRect">
            <a:avLst>
              <a:gd name="adj" fmla="val 12000"/>
            </a:avLst>
          </a:prstGeom>
          <a:solidFill>
            <a:srgbClr val="303030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E0E0E0"/>
                </a:solidFill>
              </a:defRPr>
            </a:pPr>
            <a:r>
              <a:t>⏩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724144" y="5239512"/>
            <a:ext cx="411480" cy="292608"/>
          </a:xfrm>
          <a:prstGeom prst="roundRect">
            <a:avLst>
              <a:gd name="adj" fmla="val 12000"/>
            </a:avLst>
          </a:prstGeom>
          <a:solidFill>
            <a:srgbClr val="303030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E0E0E0"/>
                </a:solidFill>
              </a:defRPr>
            </a:pPr>
            <a:r>
              <a:t>⏭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327648" y="5239512"/>
            <a:ext cx="594360" cy="292608"/>
          </a:xfrm>
          <a:prstGeom prst="roundRect">
            <a:avLst>
              <a:gd name="adj" fmla="val 12000"/>
            </a:avLst>
          </a:prstGeom>
          <a:solidFill>
            <a:srgbClr val="303030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E0E0E0"/>
                </a:solidFill>
              </a:defRPr>
            </a:pPr>
            <a:r>
              <a:t>I-IN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976872" y="5239512"/>
            <a:ext cx="594360" cy="292608"/>
          </a:xfrm>
          <a:prstGeom prst="roundRect">
            <a:avLst>
              <a:gd name="adj" fmla="val 12000"/>
            </a:avLst>
          </a:prstGeom>
          <a:solidFill>
            <a:srgbClr val="303030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E0E0E0"/>
                </a:solidFill>
              </a:defRPr>
            </a:pPr>
            <a:r>
              <a:t>O-OUT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626096" y="5239512"/>
            <a:ext cx="594360" cy="292608"/>
          </a:xfrm>
          <a:prstGeom prst="roundRect">
            <a:avLst>
              <a:gd name="adj" fmla="val 12000"/>
            </a:avLst>
          </a:prstGeom>
          <a:solidFill>
            <a:srgbClr val="303030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E0E0E0"/>
                </a:solidFill>
              </a:defRPr>
            </a:pPr>
            <a:r>
              <a:t>全選択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275320" y="5239512"/>
            <a:ext cx="594360" cy="292608"/>
          </a:xfrm>
          <a:prstGeom prst="roundRect">
            <a:avLst>
              <a:gd name="adj" fmla="val 12000"/>
            </a:avLst>
          </a:prstGeom>
          <a:solidFill>
            <a:srgbClr val="303030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E0E0E0"/>
                </a:solidFill>
              </a:defRPr>
            </a:pPr>
            <a:r>
              <a:t>＋追加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371600" y="5623560"/>
            <a:ext cx="9144000" cy="77724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554480" y="56692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99999"/>
                </a:solidFill>
                <a:latin typeface="Helvetica Neue"/>
              </a:defRPr>
            </a:pPr>
            <a:r>
              <a:t>カットリスト（保持するセグメント）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645920" y="5943600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0E0E0"/>
                </a:solidFill>
                <a:latin typeface="Menlo"/>
              </a:defRPr>
            </a:pPr>
            <a:r>
              <a:t>1.  00:00:10.00 → 00:00:30.00  (00:00:20.00)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645920" y="6153912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0E0E0"/>
                </a:solidFill>
                <a:latin typeface="Menlo"/>
              </a:defRPr>
            </a:pPr>
            <a:r>
              <a:t>2.  00:01:00.00 → 00:01:45.00  (00:00:45.00)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4FC3F7"/>
                </a:solidFill>
                <a:latin typeface="Helvetica Neue"/>
              </a:defRPr>
            </a:pPr>
            <a:r>
              <a:t>基本操作フロー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2194560" cy="36576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3474720" cy="2103120"/>
          </a:xfrm>
          <a:prstGeom prst="roundRect">
            <a:avLst>
              <a:gd name="adj" fmla="val 4000"/>
            </a:avLst>
          </a:prstGeom>
          <a:solidFill>
            <a:srgbClr val="2525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164592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141414"/>
                </a:solidFill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54480" y="169164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0E0E0"/>
                </a:solidFill>
                <a:latin typeface="Helvetica Neue"/>
              </a:defRPr>
            </a:pPr>
            <a:r>
              <a:t>動画を開く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286000"/>
            <a:ext cx="29260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99999"/>
                </a:solidFill>
                <a:latin typeface="Helvetica Neue"/>
              </a:defRPr>
            </a:pPr>
            <a:r>
              <a:t>「開く」ボタンをクリック</a:t>
            </a:r>
            <a:br/>
            <a:r>
              <a:t>ファイル選択ダイアログで動画を選択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219456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555555"/>
                </a:solidFill>
                <a:latin typeface="Helvetica Neue"/>
              </a:defRPr>
            </a:pPr>
            <a: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0" y="1463040"/>
            <a:ext cx="3474720" cy="2103120"/>
          </a:xfrm>
          <a:prstGeom prst="roundRect">
            <a:avLst>
              <a:gd name="adj" fmla="val 4000"/>
            </a:avLst>
          </a:prstGeom>
          <a:solidFill>
            <a:srgbClr val="2525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754880" y="164592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141414"/>
                </a:solidFill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94960" y="169164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0E0E0"/>
                </a:solidFill>
                <a:latin typeface="Helvetica Neue"/>
              </a:defRPr>
            </a:pPr>
            <a:r>
              <a:t>プレビュー確認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0" y="2286000"/>
            <a:ext cx="29260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99999"/>
                </a:solidFill>
                <a:latin typeface="Helvetica Neue"/>
              </a:defRPr>
            </a:pPr>
            <a:r>
              <a:t>再生・シークで内容を確認</a:t>
            </a:r>
            <a:br/>
            <a:r>
              <a:t>タイムラインをドラッグして移動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0" y="219456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555555"/>
                </a:solidFill>
                <a:latin typeface="Helvetica Neue"/>
              </a:defRPr>
            </a:pPr>
            <a: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412480" y="1463040"/>
            <a:ext cx="3474720" cy="2103120"/>
          </a:xfrm>
          <a:prstGeom prst="roundRect">
            <a:avLst>
              <a:gd name="adj" fmla="val 4000"/>
            </a:avLst>
          </a:prstGeom>
          <a:solidFill>
            <a:srgbClr val="2525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595360" y="164592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141414"/>
                </a:solidFill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35440" y="169164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0E0E0"/>
                </a:solidFill>
                <a:latin typeface="Helvetica Neue"/>
              </a:defRPr>
            </a:pPr>
            <a:r>
              <a:t>IN ポイント設定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0" y="2286000"/>
            <a:ext cx="29260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99999"/>
                </a:solidFill>
                <a:latin typeface="Helvetica Neue"/>
              </a:defRPr>
            </a:pPr>
            <a:r>
              <a:t>残したい区間の開始位置で</a:t>
            </a:r>
            <a:br/>
            <a:r>
              <a:t>I キーまたは「I - IN」ボタン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4023360"/>
            <a:ext cx="3474720" cy="2103120"/>
          </a:xfrm>
          <a:prstGeom prst="roundRect">
            <a:avLst>
              <a:gd name="adj" fmla="val 4000"/>
            </a:avLst>
          </a:prstGeom>
          <a:solidFill>
            <a:srgbClr val="2525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914400" y="420624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F443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141414"/>
                </a:solidFill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54480" y="425196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0E0E0"/>
                </a:solidFill>
                <a:latin typeface="Helvetica Neue"/>
              </a:defRPr>
            </a:pPr>
            <a:r>
              <a:t>OUT ポイント設定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" y="4846320"/>
            <a:ext cx="29260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99999"/>
                </a:solidFill>
                <a:latin typeface="Helvetica Neue"/>
              </a:defRPr>
            </a:pPr>
            <a:r>
              <a:t>残したい区間の終了位置で</a:t>
            </a:r>
            <a:br/>
            <a:r>
              <a:t>O キーまたは「O - OUT」ボタン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06240" y="475488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555555"/>
                </a:solidFill>
                <a:latin typeface="Helvetica Neue"/>
              </a:defRPr>
            </a:pPr>
            <a:r>
              <a:t>→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0" y="4023360"/>
            <a:ext cx="3474720" cy="2103120"/>
          </a:xfrm>
          <a:prstGeom prst="roundRect">
            <a:avLst>
              <a:gd name="adj" fmla="val 4000"/>
            </a:avLst>
          </a:prstGeom>
          <a:solidFill>
            <a:srgbClr val="2525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4754880" y="420624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FFB7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141414"/>
                </a:solidFill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94960" y="425196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0E0E0"/>
                </a:solidFill>
                <a:latin typeface="Helvetica Neue"/>
              </a:defRPr>
            </a:pPr>
            <a:r>
              <a:t>カットリストに追加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846320" y="4846320"/>
            <a:ext cx="29260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99999"/>
                </a:solidFill>
                <a:latin typeface="Helvetica Neue"/>
              </a:defRPr>
            </a:pPr>
            <a:r>
              <a:t>Enter キーまたは「＋追加」ボタン</a:t>
            </a:r>
            <a:br/>
            <a:r>
              <a:t>複数セグメント登録可能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46720" y="475488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555555"/>
                </a:solidFill>
                <a:latin typeface="Helvetica Neue"/>
              </a:defRPr>
            </a:pPr>
            <a:r>
              <a:t>→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412480" y="4023360"/>
            <a:ext cx="3474720" cy="2103120"/>
          </a:xfrm>
          <a:prstGeom prst="roundRect">
            <a:avLst>
              <a:gd name="adj" fmla="val 4000"/>
            </a:avLst>
          </a:prstGeom>
          <a:solidFill>
            <a:srgbClr val="2525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8595360" y="420624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141414"/>
                </a:solidFill>
              </a:rPr>
              <a:t>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35440" y="425196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0E0E0"/>
                </a:solidFill>
                <a:latin typeface="Helvetica Neue"/>
              </a:defRPr>
            </a:pPr>
            <a:r>
              <a:t>エクスポート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686800" y="4846320"/>
            <a:ext cx="29260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99999"/>
                </a:solidFill>
                <a:latin typeface="Helvetica Neue"/>
              </a:defRPr>
            </a:pPr>
            <a:r>
              <a:t>「エクスポート」→ 確認 → 出力</a:t>
            </a:r>
            <a:br/>
            <a:r>
              <a:t>元ファイルと同じフォルダに保存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4FC3F7"/>
                </a:solidFill>
                <a:latin typeface="Helvetica Neue"/>
              </a:defRPr>
            </a:pPr>
            <a:r>
              <a:t>キーボードショートカット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3474720" cy="36576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303520" cy="777240"/>
          </a:xfrm>
          <a:prstGeom prst="roundRect">
            <a:avLst>
              <a:gd name="adj" fmla="val 4000"/>
            </a:avLst>
          </a:prstGeom>
          <a:solidFill>
            <a:srgbClr val="2525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1572768"/>
            <a:ext cx="1005840" cy="347472"/>
          </a:xfrm>
          <a:prstGeom prst="roundRect">
            <a:avLst>
              <a:gd name="adj" fmla="val 15000"/>
            </a:avLst>
          </a:prstGeom>
          <a:solidFill>
            <a:srgbClr val="333333"/>
          </a:solidFill>
          <a:ln w="1270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CCCCCC"/>
                </a:solidFill>
                <a:latin typeface="Menlo"/>
              </a:defRPr>
            </a:pPr>
            <a:r>
              <a:t>Space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0" y="155448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0E0E0"/>
                </a:solidFill>
                <a:latin typeface="Helvetica Neue"/>
              </a:defRPr>
            </a:pPr>
            <a:r>
              <a:t>再生 / 一時停止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331720"/>
            <a:ext cx="5303520" cy="777240"/>
          </a:xfrm>
          <a:prstGeom prst="roundRect">
            <a:avLst>
              <a:gd name="adj" fmla="val 4000"/>
            </a:avLst>
          </a:prstGeom>
          <a:solidFill>
            <a:srgbClr val="2525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914400" y="2532888"/>
            <a:ext cx="786384" cy="347472"/>
          </a:xfrm>
          <a:prstGeom prst="roundRect">
            <a:avLst>
              <a:gd name="adj" fmla="val 15000"/>
            </a:avLst>
          </a:prstGeom>
          <a:solidFill>
            <a:srgbClr val="333333"/>
          </a:solidFill>
          <a:ln w="1270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CCCCCC"/>
                </a:solidFill>
                <a:latin typeface="Menlo"/>
              </a:defRPr>
            </a:pPr>
            <a:r>
              <a:t>← →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0" y="251460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0E0E0"/>
                </a:solidFill>
                <a:latin typeface="Helvetica Neue"/>
              </a:defRPr>
            </a:pPr>
            <a:r>
              <a:t>1秒 戻る / 進む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291840"/>
            <a:ext cx="5303520" cy="777240"/>
          </a:xfrm>
          <a:prstGeom prst="roundRect">
            <a:avLst>
              <a:gd name="adj" fmla="val 4000"/>
            </a:avLst>
          </a:prstGeom>
          <a:solidFill>
            <a:srgbClr val="2525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914400" y="3493008"/>
            <a:ext cx="1005840" cy="347472"/>
          </a:xfrm>
          <a:prstGeom prst="roundRect">
            <a:avLst>
              <a:gd name="adj" fmla="val 15000"/>
            </a:avLst>
          </a:prstGeom>
          <a:solidFill>
            <a:srgbClr val="333333"/>
          </a:solidFill>
          <a:ln w="1270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CCCCCC"/>
                </a:solidFill>
                <a:latin typeface="Menlo"/>
              </a:defRPr>
            </a:pPr>
            <a:r>
              <a:t>Shift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011680" y="3493008"/>
            <a:ext cx="786384" cy="347472"/>
          </a:xfrm>
          <a:prstGeom prst="roundRect">
            <a:avLst>
              <a:gd name="adj" fmla="val 15000"/>
            </a:avLst>
          </a:prstGeom>
          <a:solidFill>
            <a:srgbClr val="333333"/>
          </a:solidFill>
          <a:ln w="1270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CCCCCC"/>
                </a:solidFill>
                <a:latin typeface="Menlo"/>
              </a:defRPr>
            </a:pPr>
            <a:r>
              <a:t>← 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0" y="347472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0E0E0"/>
                </a:solidFill>
                <a:latin typeface="Helvetica Neue"/>
              </a:defRPr>
            </a:pPr>
            <a:r>
              <a:t>10秒 戻る / 進む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251960"/>
            <a:ext cx="5303520" cy="777240"/>
          </a:xfrm>
          <a:prstGeom prst="roundRect">
            <a:avLst>
              <a:gd name="adj" fmla="val 4000"/>
            </a:avLst>
          </a:prstGeom>
          <a:solidFill>
            <a:srgbClr val="2525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914400" y="4453128"/>
            <a:ext cx="566928" cy="347472"/>
          </a:xfrm>
          <a:prstGeom prst="roundRect">
            <a:avLst>
              <a:gd name="adj" fmla="val 15000"/>
            </a:avLst>
          </a:prstGeom>
          <a:solidFill>
            <a:srgbClr val="333333"/>
          </a:solidFill>
          <a:ln w="1270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CCCCCC"/>
                </a:solidFill>
                <a:latin typeface="Menlo"/>
              </a:defRPr>
            </a:pPr>
            <a:r>
              <a:t>,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572768" y="4453128"/>
            <a:ext cx="566928" cy="347472"/>
          </a:xfrm>
          <a:prstGeom prst="roundRect">
            <a:avLst>
              <a:gd name="adj" fmla="val 15000"/>
            </a:avLst>
          </a:prstGeom>
          <a:solidFill>
            <a:srgbClr val="333333"/>
          </a:solidFill>
          <a:ln w="1270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CCCCCC"/>
                </a:solidFill>
                <a:latin typeface="Menlo"/>
              </a:defRPr>
            </a:pPr>
            <a:r>
              <a:t>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0" y="443484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0E0E0"/>
                </a:solidFill>
                <a:latin typeface="Helvetica Neue"/>
              </a:defRPr>
            </a:pPr>
            <a:r>
              <a:t>1フレーム 戻る / 進む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5212080"/>
            <a:ext cx="5303520" cy="777240"/>
          </a:xfrm>
          <a:prstGeom prst="roundRect">
            <a:avLst>
              <a:gd name="adj" fmla="val 4000"/>
            </a:avLst>
          </a:prstGeom>
          <a:solidFill>
            <a:srgbClr val="2525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914400" y="5413248"/>
            <a:ext cx="566928" cy="347472"/>
          </a:xfrm>
          <a:prstGeom prst="roundRect">
            <a:avLst>
              <a:gd name="adj" fmla="val 15000"/>
            </a:avLst>
          </a:prstGeom>
          <a:solidFill>
            <a:srgbClr val="333333"/>
          </a:solidFill>
          <a:ln w="1270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CCCCCC"/>
                </a:solidFill>
                <a:latin typeface="Menlo"/>
              </a:defRPr>
            </a:pPr>
            <a:r>
              <a:t>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43200" y="539496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0E0E0"/>
                </a:solidFill>
                <a:latin typeface="Helvetica Neue"/>
              </a:defRPr>
            </a:pPr>
            <a:r>
              <a:t>INポイントを現在位置に設定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0" y="1371600"/>
            <a:ext cx="5303520" cy="777240"/>
          </a:xfrm>
          <a:prstGeom prst="roundRect">
            <a:avLst>
              <a:gd name="adj" fmla="val 4000"/>
            </a:avLst>
          </a:prstGeom>
          <a:solidFill>
            <a:srgbClr val="2525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583680" y="1572768"/>
            <a:ext cx="566928" cy="347472"/>
          </a:xfrm>
          <a:prstGeom prst="roundRect">
            <a:avLst>
              <a:gd name="adj" fmla="val 15000"/>
            </a:avLst>
          </a:prstGeom>
          <a:solidFill>
            <a:srgbClr val="333333"/>
          </a:solidFill>
          <a:ln w="1270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CCCCCC"/>
                </a:solidFill>
                <a:latin typeface="Menlo"/>
              </a:defRPr>
            </a:pPr>
            <a:r>
              <a:t>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12480" y="155448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0E0E0"/>
                </a:solidFill>
                <a:latin typeface="Helvetica Neue"/>
              </a:defRPr>
            </a:pPr>
            <a:r>
              <a:t>OUTポイントを現在位置に設定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0" y="2331720"/>
            <a:ext cx="5303520" cy="777240"/>
          </a:xfrm>
          <a:prstGeom prst="roundRect">
            <a:avLst>
              <a:gd name="adj" fmla="val 4000"/>
            </a:avLst>
          </a:prstGeom>
          <a:solidFill>
            <a:srgbClr val="2525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583680" y="2532888"/>
            <a:ext cx="566928" cy="347472"/>
          </a:xfrm>
          <a:prstGeom prst="roundRect">
            <a:avLst>
              <a:gd name="adj" fmla="val 15000"/>
            </a:avLst>
          </a:prstGeom>
          <a:solidFill>
            <a:srgbClr val="333333"/>
          </a:solidFill>
          <a:ln w="1270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CCCCCC"/>
                </a:solidFill>
                <a:latin typeface="Menlo"/>
              </a:defRPr>
            </a:pPr>
            <a:r>
              <a:t>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12480" y="251460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0E0E0"/>
                </a:solidFill>
                <a:latin typeface="Helvetica Neue"/>
              </a:defRPr>
            </a:pPr>
            <a:r>
              <a:t>全選択（IN=先頭, OUT=末尾）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00800" y="3291840"/>
            <a:ext cx="5303520" cy="777240"/>
          </a:xfrm>
          <a:prstGeom prst="roundRect">
            <a:avLst>
              <a:gd name="adj" fmla="val 4000"/>
            </a:avLst>
          </a:prstGeom>
          <a:solidFill>
            <a:srgbClr val="2525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583680" y="3493008"/>
            <a:ext cx="566928" cy="347472"/>
          </a:xfrm>
          <a:prstGeom prst="roundRect">
            <a:avLst>
              <a:gd name="adj" fmla="val 15000"/>
            </a:avLst>
          </a:prstGeom>
          <a:solidFill>
            <a:srgbClr val="333333"/>
          </a:solidFill>
          <a:ln w="1270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CCCCCC"/>
                </a:solidFill>
                <a:latin typeface="Menlo"/>
              </a:defRPr>
            </a:pPr>
            <a:r>
              <a:t>F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12480" y="347472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0E0E0"/>
                </a:solidFill>
                <a:latin typeface="Helvetica Neue"/>
              </a:defRPr>
            </a:pPr>
            <a:r>
              <a:t>上下反転 ON / OFF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400800" y="4251960"/>
            <a:ext cx="5303520" cy="777240"/>
          </a:xfrm>
          <a:prstGeom prst="roundRect">
            <a:avLst>
              <a:gd name="adj" fmla="val 4000"/>
            </a:avLst>
          </a:prstGeom>
          <a:solidFill>
            <a:srgbClr val="2525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6583680" y="4453128"/>
            <a:ext cx="1005840" cy="347472"/>
          </a:xfrm>
          <a:prstGeom prst="roundRect">
            <a:avLst>
              <a:gd name="adj" fmla="val 15000"/>
            </a:avLst>
          </a:prstGeom>
          <a:solidFill>
            <a:srgbClr val="333333"/>
          </a:solidFill>
          <a:ln w="1270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CCCCCC"/>
                </a:solidFill>
                <a:latin typeface="Menlo"/>
              </a:defRPr>
            </a:pPr>
            <a:r>
              <a:t>Enter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12480" y="443484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0E0E0"/>
                </a:solidFill>
                <a:latin typeface="Helvetica Neue"/>
              </a:defRPr>
            </a:pPr>
            <a:r>
              <a:t>IN-OUT区間をカットリストに追加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4FC3F7"/>
                </a:solidFill>
                <a:latin typeface="Helvetica Neue"/>
              </a:defRPr>
            </a:pPr>
            <a:r>
              <a:t>上下反転機能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2011680" cy="36576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E0E0E0"/>
                </a:solidFill>
                <a:latin typeface="Helvetica Neue"/>
              </a:defRPr>
            </a:pPr>
            <a:r>
              <a:t>撮影時に上下逆さまになった動画を正しい向きに修正できます。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194560"/>
            <a:ext cx="5029200" cy="3840480"/>
          </a:xfrm>
          <a:prstGeom prst="roundRect">
            <a:avLst>
              <a:gd name="adj" fmla="val 4000"/>
            </a:avLst>
          </a:prstGeom>
          <a:solidFill>
            <a:srgbClr val="2525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37744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999999"/>
                </a:solidFill>
                <a:latin typeface="Helvetica Neue"/>
              </a:defRPr>
            </a:pPr>
            <a:r>
              <a:t>反転 OFF</a:t>
            </a:r>
          </a:p>
        </p:txBody>
      </p:sp>
      <p:sp>
        <p:nvSpPr>
          <p:cNvPr id="7" name="Rectangle 6"/>
          <p:cNvSpPr/>
          <p:nvPr/>
        </p:nvSpPr>
        <p:spPr>
          <a:xfrm>
            <a:off x="1188720" y="3017520"/>
            <a:ext cx="4114800" cy="2286000"/>
          </a:xfrm>
          <a:prstGeom prst="rect">
            <a:avLst/>
          </a:prstGeom>
          <a:solidFill>
            <a:srgbClr val="0505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3657600"/>
            <a:ext cx="4114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555555"/>
                </a:solidFill>
                <a:latin typeface="Helvetica Neue"/>
              </a:defRPr>
            </a:pPr>
            <a:r>
              <a:t>▲ 通常表示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2194560"/>
            <a:ext cx="5029200" cy="3840480"/>
          </a:xfrm>
          <a:prstGeom prst="roundRect">
            <a:avLst>
              <a:gd name="adj" fmla="val 4000"/>
            </a:avLst>
          </a:prstGeom>
          <a:solidFill>
            <a:srgbClr val="2525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0" y="2194560"/>
            <a:ext cx="5029200" cy="54864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237744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4FC3F7"/>
                </a:solidFill>
                <a:latin typeface="Helvetica Neue"/>
              </a:defRPr>
            </a:pPr>
            <a:r>
              <a:t>反転 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58000" y="3017520"/>
            <a:ext cx="4114800" cy="2286000"/>
          </a:xfrm>
          <a:prstGeom prst="rect">
            <a:avLst/>
          </a:prstGeom>
          <a:solidFill>
            <a:srgbClr val="0505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0" y="3657600"/>
            <a:ext cx="4114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4FC3F7"/>
                </a:solidFill>
                <a:latin typeface="Helvetica Neue"/>
              </a:defRPr>
            </a:pPr>
            <a:r>
              <a:t>▼ 上下反転表示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5486400"/>
            <a:ext cx="10698480" cy="640080"/>
          </a:xfrm>
          <a:prstGeom prst="roundRect">
            <a:avLst>
              <a:gd name="adj" fmla="val 4000"/>
            </a:avLst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55778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B74D"/>
                </a:solidFill>
                <a:latin typeface="Helvetica Neue"/>
              </a:defRPr>
            </a:pPr>
            <a:r>
              <a:t>注意: 反転ONでエクスポートすると再エンコード（H.264, CRF18）になるため、反転OFFの無劣化コピーより時間がかかります。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4FC3F7"/>
                </a:solidFill>
                <a:latin typeface="Helvetica Neue"/>
              </a:defRPr>
            </a:pPr>
            <a:r>
              <a:t>エクスポート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1828800" cy="36576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E0E0E0"/>
                </a:solidFill>
                <a:latin typeface="Helvetica Neue"/>
              </a:defRPr>
            </a:pPr>
            <a:r>
              <a:t>カットリストに登録したセグメントを1つの動画ファイルとして出力します。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0" y="2103120"/>
            <a:ext cx="7315200" cy="4114800"/>
          </a:xfrm>
          <a:prstGeom prst="roundRect">
            <a:avLst>
              <a:gd name="adj" fmla="val 4000"/>
            </a:avLst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286000" y="2103120"/>
            <a:ext cx="7315200" cy="54864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0" y="237744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0E0E0"/>
                </a:solidFill>
                <a:latin typeface="Helvetica Neue"/>
              </a:defRPr>
            </a:pPr>
            <a:r>
              <a:t>エクスポート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0" y="301752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99999"/>
                </a:solidFill>
                <a:latin typeface="Helvetica Neue"/>
              </a:defRPr>
            </a:pPr>
            <a:r>
              <a:t>ソース:  sample.mp4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0" y="338328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99999"/>
                </a:solidFill>
                <a:latin typeface="Helvetica Neue"/>
              </a:defRPr>
            </a:pPr>
            <a:r>
              <a:t>セグメント数: 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0" y="374904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99999"/>
                </a:solidFill>
                <a:latin typeface="Helvetica Neue"/>
              </a:defRPr>
            </a:pPr>
            <a:r>
              <a:t>合計時間:  00:01:05.00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0" y="4114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99999"/>
                </a:solidFill>
                <a:latin typeface="Helvetica Neue"/>
              </a:defRPr>
            </a:pPr>
            <a:r>
              <a:t>上下反転:  OFF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0" y="448056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99999"/>
                </a:solidFill>
                <a:latin typeface="Helvetica Neue"/>
              </a:defRPr>
            </a:pPr>
            <a:r>
              <a:t>出力:  無劣化コピー（再エンコードなし）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0" y="484632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99999"/>
                </a:solidFill>
                <a:latin typeface="Helvetica Neue"/>
              </a:defRPr>
            </a:pPr>
            <a:r>
              <a:t>保存先:  ソースファイルと同じフォルダ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223760" y="5486400"/>
            <a:ext cx="914400" cy="411480"/>
          </a:xfrm>
          <a:prstGeom prst="roundRect">
            <a:avLst>
              <a:gd name="adj" fmla="val 10000"/>
            </a:avLst>
          </a:prstGeom>
          <a:solidFill>
            <a:srgbClr val="252525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E0E0E0"/>
                </a:solidFill>
              </a:defRPr>
            </a:pPr>
            <a:r>
              <a:t>キャンセル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321040" y="5486400"/>
            <a:ext cx="1097280" cy="411480"/>
          </a:xfrm>
          <a:prstGeom prst="roundRect">
            <a:avLst>
              <a:gd name="adj" fmla="val 10000"/>
            </a:avLst>
          </a:prstGeom>
          <a:solidFill>
            <a:srgbClr val="1B4D1E"/>
          </a:solidFill>
          <a:ln w="1270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4CAF50"/>
                </a:solidFill>
              </a:defRPr>
            </a:pPr>
            <a:r>
              <a:t>エクスポート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5669280"/>
            <a:ext cx="10698480" cy="731520"/>
          </a:xfrm>
          <a:prstGeom prst="roundRect">
            <a:avLst>
              <a:gd name="adj" fmla="val 4000"/>
            </a:avLst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" y="57607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99999"/>
                </a:solidFill>
                <a:latin typeface="Helvetica Neue"/>
              </a:defRPr>
            </a:pPr>
            <a:r>
              <a:t>出力ファイル名:  元ファイル名_cut.mp4  （重複時は _cut_1, _cut_2 ... と連番）</a:t>
            </a:r>
            <a:br/>
            <a:r>
              <a:t>保存場所:  元の動画ファイルと同じフォルダ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4FC3F7"/>
                </a:solidFill>
                <a:latin typeface="Helvetica Neue"/>
              </a:defRPr>
            </a:pPr>
            <a:r>
              <a:t>トラブルシューティング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3291840" cy="36576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10698480" cy="1143000"/>
          </a:xfrm>
          <a:prstGeom prst="roundRect">
            <a:avLst>
              <a:gd name="adj" fmla="val 4000"/>
            </a:avLst>
          </a:prstGeom>
          <a:solidFill>
            <a:srgbClr val="2525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4630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44336"/>
                </a:solidFill>
                <a:latin typeface="Helvetica Neue"/>
              </a:defRPr>
            </a:pPr>
            <a:r>
              <a:t>Q: 「開発元を確認できない」と表示される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18745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99999"/>
                </a:solidFill>
                <a:latin typeface="Helvetica Neue"/>
              </a:defRPr>
            </a:pPr>
            <a:r>
              <a:t>初回のみ、アプリを右クリック →「開く」を選択してください。</a:t>
            </a:r>
            <a:br/>
            <a:r>
              <a:t>2回目以降は通常どおりダブルクリックで起動できます。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697480"/>
            <a:ext cx="10698480" cy="1143000"/>
          </a:xfrm>
          <a:prstGeom prst="roundRect">
            <a:avLst>
              <a:gd name="adj" fmla="val 4000"/>
            </a:avLst>
          </a:prstGeom>
          <a:solidFill>
            <a:srgbClr val="2525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7889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44336"/>
                </a:solidFill>
                <a:latin typeface="Helvetica Neue"/>
              </a:defRPr>
            </a:pPr>
            <a:r>
              <a:t>Q: 「ffmpeg が必要です」と表示される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2004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99999"/>
                </a:solidFill>
                <a:latin typeface="Helvetica Neue"/>
              </a:defRPr>
            </a:pPr>
            <a:r>
              <a:t>ターミナルを開いて brew install ffmpeg を実行してください。</a:t>
            </a:r>
            <a:br/>
            <a:r>
              <a:t>Homebrew 未導入の場合は先に brew.sh からインストールしてください。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023360"/>
            <a:ext cx="10698480" cy="1143000"/>
          </a:xfrm>
          <a:prstGeom prst="roundRect">
            <a:avLst>
              <a:gd name="adj" fmla="val 4000"/>
            </a:avLst>
          </a:prstGeom>
          <a:solidFill>
            <a:srgbClr val="2525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44336"/>
                </a:solidFill>
                <a:latin typeface="Helvetica Neue"/>
              </a:defRPr>
            </a:pPr>
            <a:r>
              <a:t>Q: 動画が再生されない / シークできない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5262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99999"/>
                </a:solidFill>
                <a:latin typeface="Helvetica Neue"/>
              </a:defRPr>
            </a:pPr>
            <a:r>
              <a:t>ブラウザが対応していないコーデックの可能性があります。</a:t>
            </a:r>
            <a:br/>
            <a:r>
              <a:t>MP4（H.264）形式の動画をお試しください。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5349240"/>
            <a:ext cx="10698480" cy="1143000"/>
          </a:xfrm>
          <a:prstGeom prst="roundRect">
            <a:avLst>
              <a:gd name="adj" fmla="val 4000"/>
            </a:avLst>
          </a:prstGeom>
          <a:solidFill>
            <a:srgbClr val="2525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54406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44336"/>
                </a:solidFill>
                <a:latin typeface="Helvetica Neue"/>
              </a:defRPr>
            </a:pPr>
            <a:r>
              <a:t>Q: エクスポートに時間がかかる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58521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99999"/>
                </a:solidFill>
                <a:latin typeface="Helvetica Neue"/>
              </a:defRPr>
            </a:pPr>
            <a:r>
              <a:t>上下反転ONの場合は再エンコードが必要なため時間がかかります。</a:t>
            </a:r>
            <a:br/>
            <a:r>
              <a:t>反転不要であればOFFにすると無劣化コピーで高速に処理されます。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438247" y="1554480"/>
            <a:ext cx="7315200" cy="3200400"/>
          </a:xfrm>
          <a:prstGeom prst="roundRect">
            <a:avLst>
              <a:gd name="adj" fmla="val 5000"/>
            </a:avLst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438247" y="1554480"/>
            <a:ext cx="7315200" cy="54864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438247" y="210312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4FC3F7"/>
                </a:solidFill>
                <a:latin typeface="Helvetica Neue"/>
              </a:defRPr>
            </a:pPr>
            <a:r>
              <a:t>VideoCut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438247" y="292608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E0E0E0"/>
                </a:solidFill>
                <a:latin typeface="Helvetica Neue"/>
              </a:defRPr>
            </a:pPr>
            <a:r>
              <a:t>シンプルに、素早く、動画をカット。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438247" y="374904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99999"/>
                </a:solidFill>
                <a:latin typeface="Helvetica Neue"/>
              </a:defRPr>
            </a:pPr>
            <a:r>
              <a:t>github.com/IvyTechnx/VideoCut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